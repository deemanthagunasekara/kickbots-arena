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Arial" panose="020B0604020202020204" pitchFamily="34" charset="0"/>
      <p:regular r:id="rId25"/>
    </p:embeddedFont>
    <p:embeddedFont>
      <p:font typeface="Arial Bold" panose="020B0704020202020204" pitchFamily="34" charset="0"/>
      <p:regular r:id="rId26"/>
      <p:bold r:id="rId27"/>
    </p:embeddedFont>
    <p:embeddedFont>
      <p:font typeface="Arimo" panose="020B0604020202020204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DM Sans" panose="020B0604020202020204" charset="0"/>
      <p:regular r:id="rId33"/>
    </p:embeddedFont>
    <p:embeddedFont>
      <p:font typeface="DM Sans Bold" panose="020B0604020202020204" charset="0"/>
      <p:regular r:id="rId34"/>
    </p:embeddedFont>
    <p:embeddedFont>
      <p:font typeface="Georgia Pro" panose="02040502050405020303" pitchFamily="18" charset="0"/>
      <p:regular r:id="rId35"/>
      <p:bold r:id="rId36"/>
      <p:italic r:id="rId37"/>
      <p:boldItalic r:id="rId38"/>
    </p:embeddedFont>
    <p:embeddedFont>
      <p:font typeface="Open Sans Bold" panose="020B0604020202020204" charset="0"/>
      <p:regular r:id="rId39"/>
    </p:embeddedFont>
    <p:embeddedFont>
      <p:font typeface="Open Sans Light" panose="020B0604020202020204" charset="0"/>
      <p:regular r:id="rId40"/>
    </p:embeddedFont>
    <p:embeddedFont>
      <p:font typeface="Poppins" panose="020B0604020202020204" charset="0"/>
      <p:regular r:id="rId41"/>
    </p:embeddedFont>
    <p:embeddedFont>
      <p:font typeface="Poppins Bold" panose="020B0604020202020204" charset="0"/>
      <p:regular r:id="rId42"/>
    </p:embeddedFont>
    <p:embeddedFont>
      <p:font typeface="Poppins Semi-Bold" panose="020B0604020202020204" charset="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9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793400" y="-712357"/>
            <a:ext cx="22453902" cy="11711713"/>
            <a:chOff x="0" y="0"/>
            <a:chExt cx="5913785" cy="30845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13785" cy="3084567"/>
            </a:xfrm>
            <a:custGeom>
              <a:avLst/>
              <a:gdLst/>
              <a:ahLst/>
              <a:cxnLst/>
              <a:rect l="l" t="t" r="r" b="b"/>
              <a:pathLst>
                <a:path w="5913785" h="3084567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030393" y="3338037"/>
            <a:ext cx="8227215" cy="202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17"/>
              </a:lnSpc>
            </a:pPr>
            <a:r>
              <a:rPr lang="en-US" sz="12998" b="1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KICKBOTS 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571132" y="6449964"/>
            <a:ext cx="6983181" cy="669188"/>
            <a:chOff x="0" y="0"/>
            <a:chExt cx="9310908" cy="892251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9310908" cy="892251"/>
              <a:chOff x="0" y="0"/>
              <a:chExt cx="1839192" cy="17624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839192" cy="176247"/>
              </a:xfrm>
              <a:custGeom>
                <a:avLst/>
                <a:gdLst/>
                <a:ahLst/>
                <a:cxnLst/>
                <a:rect l="l" t="t" r="r" b="b"/>
                <a:pathLst>
                  <a:path w="1839192" h="176247">
                    <a:moveTo>
                      <a:pt x="0" y="0"/>
                    </a:moveTo>
                    <a:lnTo>
                      <a:pt x="1839192" y="0"/>
                    </a:lnTo>
                    <a:lnTo>
                      <a:pt x="1839192" y="176247"/>
                    </a:lnTo>
                    <a:lnTo>
                      <a:pt x="0" y="176247"/>
                    </a:lnTo>
                    <a:close/>
                  </a:path>
                </a:pathLst>
              </a:custGeom>
              <a:solidFill>
                <a:srgbClr val="AAD7D4"/>
              </a:solidFill>
              <a:ln w="28575" cap="sq">
                <a:solidFill>
                  <a:srgbClr val="1C212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839192" cy="2143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51847" y="137266"/>
              <a:ext cx="8823954" cy="655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45"/>
                </a:lnSpc>
              </a:pPr>
              <a:r>
                <a:rPr lang="en-US" sz="3445" spc="-68">
                  <a:solidFill>
                    <a:srgbClr val="1C2120"/>
                  </a:solidFill>
                  <a:latin typeface="Poppins"/>
                  <a:ea typeface="Poppins"/>
                  <a:cs typeface="Poppins"/>
                  <a:sym typeface="Poppins"/>
                </a:rPr>
                <a:t>PRESENTED BY OHMIES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753740" y="7412649"/>
            <a:ext cx="6617965" cy="48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GROUP - 12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53740" y="8190263"/>
            <a:ext cx="6617965" cy="48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ITM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84772" y="2147122"/>
            <a:ext cx="9418007" cy="6728507"/>
            <a:chOff x="0" y="0"/>
            <a:chExt cx="3220206" cy="23004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20206" cy="2300497"/>
            </a:xfrm>
            <a:custGeom>
              <a:avLst/>
              <a:gdLst/>
              <a:ahLst/>
              <a:cxnLst/>
              <a:rect l="l" t="t" r="r" b="b"/>
              <a:pathLst>
                <a:path w="3220206" h="2300497">
                  <a:moveTo>
                    <a:pt x="3220206" y="82203"/>
                  </a:moveTo>
                  <a:lnTo>
                    <a:pt x="3220206" y="2218293"/>
                  </a:lnTo>
                  <a:cubicBezTo>
                    <a:pt x="3220206" y="2263693"/>
                    <a:pt x="3183402" y="2300497"/>
                    <a:pt x="3138003" y="2300497"/>
                  </a:cubicBezTo>
                  <a:lnTo>
                    <a:pt x="82203" y="2300497"/>
                  </a:lnTo>
                  <a:cubicBezTo>
                    <a:pt x="36804" y="2300497"/>
                    <a:pt x="0" y="2263693"/>
                    <a:pt x="0" y="2218293"/>
                  </a:cubicBezTo>
                  <a:lnTo>
                    <a:pt x="0" y="82203"/>
                  </a:lnTo>
                  <a:cubicBezTo>
                    <a:pt x="0" y="36804"/>
                    <a:pt x="36804" y="0"/>
                    <a:pt x="82203" y="0"/>
                  </a:cubicBezTo>
                  <a:lnTo>
                    <a:pt x="3138003" y="0"/>
                  </a:lnTo>
                  <a:cubicBezTo>
                    <a:pt x="3183402" y="0"/>
                    <a:pt x="3220206" y="36804"/>
                    <a:pt x="3220206" y="82203"/>
                  </a:cubicBezTo>
                  <a:close/>
                </a:path>
              </a:pathLst>
            </a:custGeom>
            <a:solidFill>
              <a:srgbClr val="AAD7D4">
                <a:alpha val="43922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220206" cy="2338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785222" y="266481"/>
            <a:ext cx="8717557" cy="132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58"/>
              </a:lnSpc>
            </a:pPr>
            <a:r>
              <a:rPr lang="en-US" sz="8472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85222" y="3449138"/>
            <a:ext cx="8215088" cy="3652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107" lvl="1" indent="-376553" algn="just">
              <a:lnSpc>
                <a:spcPts val="4883"/>
              </a:lnSpc>
              <a:buFont typeface="Arial"/>
              <a:buChar char="•"/>
            </a:pPr>
            <a:r>
              <a:rPr lang="en-US" sz="348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245031B    - P.D.V.D.Gunasekara</a:t>
            </a:r>
          </a:p>
          <a:p>
            <a:pPr marL="753107" lvl="1" indent="-376553" algn="just">
              <a:lnSpc>
                <a:spcPts val="4883"/>
              </a:lnSpc>
              <a:buFont typeface="Arial"/>
              <a:buChar char="•"/>
            </a:pPr>
            <a:r>
              <a:rPr lang="en-US" sz="348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245056F    - K.Lathursan</a:t>
            </a:r>
          </a:p>
          <a:p>
            <a:pPr marL="753107" lvl="1" indent="-376553" algn="just">
              <a:lnSpc>
                <a:spcPts val="4883"/>
              </a:lnSpc>
              <a:buFont typeface="Arial"/>
              <a:buChar char="•"/>
            </a:pPr>
            <a:r>
              <a:rPr lang="en-US" sz="348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245124M   - S.M.M.A.B. Madugalla</a:t>
            </a:r>
          </a:p>
          <a:p>
            <a:pPr marL="753107" lvl="1" indent="-376553" algn="just">
              <a:lnSpc>
                <a:spcPts val="4883"/>
              </a:lnSpc>
              <a:buFont typeface="Arial"/>
              <a:buChar char="•"/>
            </a:pPr>
            <a:r>
              <a:rPr lang="en-US" sz="348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245057J     -  B.L.N.N.Liyanage</a:t>
            </a:r>
          </a:p>
          <a:p>
            <a:pPr marL="753107" lvl="1" indent="-376553" algn="just">
              <a:lnSpc>
                <a:spcPts val="4883"/>
              </a:lnSpc>
              <a:buFont typeface="Arial"/>
              <a:buChar char="•"/>
            </a:pPr>
            <a:r>
              <a:rPr lang="en-US" sz="348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245060L    - S.M.K.Madhushani</a:t>
            </a:r>
          </a:p>
          <a:p>
            <a:pPr algn="just">
              <a:lnSpc>
                <a:spcPts val="4883"/>
              </a:lnSpc>
            </a:pPr>
            <a:endParaRPr lang="en-US" sz="3488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788" y="-177024"/>
            <a:ext cx="7097803" cy="11057957"/>
          </a:xfrm>
          <a:custGeom>
            <a:avLst/>
            <a:gdLst/>
            <a:ahLst/>
            <a:cxnLst/>
            <a:rect l="l" t="t" r="r" b="b"/>
            <a:pathLst>
              <a:path w="7097803" h="11057957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r="-22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14350" y="-177024"/>
            <a:ext cx="7454365" cy="10601584"/>
            <a:chOff x="0" y="0"/>
            <a:chExt cx="1963290" cy="27921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437850" y="1375743"/>
            <a:ext cx="4455403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OUTLINE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42311" y="2707257"/>
            <a:ext cx="6517027" cy="597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39"/>
              </a:lnSpc>
            </a:pPr>
            <a:r>
              <a:rPr lang="en-US" sz="313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Introduction</a:t>
            </a:r>
          </a:p>
          <a:p>
            <a:pPr algn="just">
              <a:lnSpc>
                <a:spcPts val="4739"/>
              </a:lnSpc>
            </a:pPr>
            <a:r>
              <a:rPr lang="en-US" sz="313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Aims and Objectives</a:t>
            </a:r>
          </a:p>
          <a:p>
            <a:pPr algn="just">
              <a:lnSpc>
                <a:spcPts val="4739"/>
              </a:lnSpc>
            </a:pPr>
            <a:r>
              <a:rPr lang="en-US" sz="313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Problem &amp; Solution</a:t>
            </a:r>
          </a:p>
          <a:p>
            <a:pPr algn="just">
              <a:lnSpc>
                <a:spcPts val="4739"/>
              </a:lnSpc>
            </a:pPr>
            <a:r>
              <a:rPr lang="en-US" sz="313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Block Diagram</a:t>
            </a:r>
          </a:p>
          <a:p>
            <a:pPr algn="just">
              <a:lnSpc>
                <a:spcPts val="4739"/>
              </a:lnSpc>
            </a:pPr>
            <a:r>
              <a:rPr lang="en-US" sz="313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Other Diagram</a:t>
            </a:r>
          </a:p>
          <a:p>
            <a:pPr algn="just">
              <a:lnSpc>
                <a:spcPts val="4739"/>
              </a:lnSpc>
            </a:pPr>
            <a:r>
              <a:rPr lang="en-US" sz="313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6. 3D View</a:t>
            </a:r>
          </a:p>
          <a:p>
            <a:pPr algn="just">
              <a:lnSpc>
                <a:spcPts val="4739"/>
              </a:lnSpc>
            </a:pPr>
            <a:r>
              <a:rPr lang="en-US" sz="313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7. Implementation</a:t>
            </a:r>
          </a:p>
          <a:p>
            <a:pPr algn="just">
              <a:lnSpc>
                <a:spcPts val="4739"/>
              </a:lnSpc>
            </a:pPr>
            <a:r>
              <a:rPr lang="en-US" sz="313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8. Components</a:t>
            </a:r>
          </a:p>
          <a:p>
            <a:pPr algn="just">
              <a:lnSpc>
                <a:spcPts val="4739"/>
              </a:lnSpc>
            </a:pPr>
            <a:r>
              <a:rPr lang="en-US" sz="313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9.Individual Contribution                       </a:t>
            </a:r>
          </a:p>
          <a:p>
            <a:pPr algn="just">
              <a:lnSpc>
                <a:spcPts val="4739"/>
              </a:lnSpc>
            </a:pPr>
            <a:endParaRPr lang="en-US" sz="313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03577" y="4079257"/>
            <a:ext cx="14512916" cy="4733370"/>
            <a:chOff x="0" y="0"/>
            <a:chExt cx="4858318" cy="1584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58318" cy="1584534"/>
            </a:xfrm>
            <a:custGeom>
              <a:avLst/>
              <a:gdLst/>
              <a:ahLst/>
              <a:cxnLst/>
              <a:rect l="l" t="t" r="r" b="b"/>
              <a:pathLst>
                <a:path w="4858318" h="1584534">
                  <a:moveTo>
                    <a:pt x="26673" y="0"/>
                  </a:moveTo>
                  <a:lnTo>
                    <a:pt x="4831646" y="0"/>
                  </a:lnTo>
                  <a:cubicBezTo>
                    <a:pt x="4846377" y="0"/>
                    <a:pt x="4858318" y="11942"/>
                    <a:pt x="4858318" y="26673"/>
                  </a:cubicBezTo>
                  <a:lnTo>
                    <a:pt x="4858318" y="1557862"/>
                  </a:lnTo>
                  <a:cubicBezTo>
                    <a:pt x="4858318" y="1572593"/>
                    <a:pt x="4846377" y="1584534"/>
                    <a:pt x="4831646" y="1584534"/>
                  </a:cubicBezTo>
                  <a:lnTo>
                    <a:pt x="26673" y="1584534"/>
                  </a:lnTo>
                  <a:cubicBezTo>
                    <a:pt x="11942" y="1584534"/>
                    <a:pt x="0" y="1572593"/>
                    <a:pt x="0" y="1557862"/>
                  </a:cubicBezTo>
                  <a:lnTo>
                    <a:pt x="0" y="26673"/>
                  </a:lnTo>
                  <a:cubicBezTo>
                    <a:pt x="0" y="11942"/>
                    <a:pt x="11942" y="0"/>
                    <a:pt x="26673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4858318" cy="1498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705645" y="6153836"/>
            <a:ext cx="1639000" cy="1081740"/>
          </a:xfrm>
          <a:custGeom>
            <a:avLst/>
            <a:gdLst/>
            <a:ahLst/>
            <a:cxnLst/>
            <a:rect l="l" t="t" r="r" b="b"/>
            <a:pathLst>
              <a:path w="1639000" h="1081740">
                <a:moveTo>
                  <a:pt x="0" y="0"/>
                </a:moveTo>
                <a:lnTo>
                  <a:pt x="1639000" y="0"/>
                </a:lnTo>
                <a:lnTo>
                  <a:pt x="1639000" y="1081740"/>
                </a:lnTo>
                <a:lnTo>
                  <a:pt x="0" y="1081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15157" y="1178000"/>
            <a:ext cx="8537476" cy="132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58"/>
              </a:lnSpc>
            </a:pPr>
            <a:r>
              <a:rPr lang="en-US" sz="8472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4754220" y="5874688"/>
            <a:ext cx="0" cy="136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4987193" y="5508632"/>
            <a:ext cx="11066544" cy="250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2"/>
              </a:lnSpc>
            </a:pPr>
            <a:r>
              <a:rPr lang="en-US" sz="299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KickBots Arena is an innovative 2-player robotic football system .</a:t>
            </a:r>
          </a:p>
          <a:p>
            <a:pPr algn="just">
              <a:lnSpc>
                <a:spcPts val="4192"/>
              </a:lnSpc>
            </a:pPr>
            <a:r>
              <a:rPr lang="en-US" sz="299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Each player controls a striker robot and its kicker for attacking  and a goalkeeper robot for defense. A Web application acts as the main control and display system.</a:t>
            </a:r>
          </a:p>
          <a:p>
            <a:pPr algn="just">
              <a:lnSpc>
                <a:spcPts val="3352"/>
              </a:lnSpc>
              <a:spcBef>
                <a:spcPct val="0"/>
              </a:spcBef>
            </a:pPr>
            <a:endParaRPr lang="en-US" sz="2994">
              <a:solidFill>
                <a:srgbClr val="1C2120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3908" y="2367139"/>
            <a:ext cx="2708759" cy="759177"/>
            <a:chOff x="0" y="0"/>
            <a:chExt cx="713418" cy="1999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3418" cy="199948"/>
            </a:xfrm>
            <a:custGeom>
              <a:avLst/>
              <a:gdLst/>
              <a:ahLst/>
              <a:cxnLst/>
              <a:rect l="l" t="t" r="r" b="b"/>
              <a:pathLst>
                <a:path w="713418" h="199948">
                  <a:moveTo>
                    <a:pt x="99974" y="0"/>
                  </a:moveTo>
                  <a:lnTo>
                    <a:pt x="613444" y="0"/>
                  </a:lnTo>
                  <a:cubicBezTo>
                    <a:pt x="668658" y="0"/>
                    <a:pt x="713418" y="44760"/>
                    <a:pt x="713418" y="99974"/>
                  </a:cubicBezTo>
                  <a:lnTo>
                    <a:pt x="713418" y="99974"/>
                  </a:lnTo>
                  <a:cubicBezTo>
                    <a:pt x="713418" y="155188"/>
                    <a:pt x="668658" y="199948"/>
                    <a:pt x="613444" y="199948"/>
                  </a:cubicBezTo>
                  <a:lnTo>
                    <a:pt x="99974" y="199948"/>
                  </a:lnTo>
                  <a:cubicBezTo>
                    <a:pt x="44760" y="199948"/>
                    <a:pt x="0" y="155188"/>
                    <a:pt x="0" y="99974"/>
                  </a:cubicBezTo>
                  <a:lnTo>
                    <a:pt x="0" y="99974"/>
                  </a:lnTo>
                  <a:cubicBezTo>
                    <a:pt x="0" y="44760"/>
                    <a:pt x="44760" y="0"/>
                    <a:pt x="99974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713418" cy="25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93908" y="5016469"/>
            <a:ext cx="3061964" cy="811716"/>
            <a:chOff x="0" y="0"/>
            <a:chExt cx="806443" cy="2137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06443" cy="213785"/>
            </a:xfrm>
            <a:custGeom>
              <a:avLst/>
              <a:gdLst/>
              <a:ahLst/>
              <a:cxnLst/>
              <a:rect l="l" t="t" r="r" b="b"/>
              <a:pathLst>
                <a:path w="806443" h="213785">
                  <a:moveTo>
                    <a:pt x="106893" y="0"/>
                  </a:moveTo>
                  <a:lnTo>
                    <a:pt x="699550" y="0"/>
                  </a:lnTo>
                  <a:cubicBezTo>
                    <a:pt x="758586" y="0"/>
                    <a:pt x="806443" y="47857"/>
                    <a:pt x="806443" y="106893"/>
                  </a:cubicBezTo>
                  <a:lnTo>
                    <a:pt x="806443" y="106893"/>
                  </a:lnTo>
                  <a:cubicBezTo>
                    <a:pt x="806443" y="135242"/>
                    <a:pt x="795181" y="162431"/>
                    <a:pt x="775135" y="182477"/>
                  </a:cubicBezTo>
                  <a:cubicBezTo>
                    <a:pt x="755089" y="202523"/>
                    <a:pt x="727900" y="213785"/>
                    <a:pt x="699550" y="213785"/>
                  </a:cubicBezTo>
                  <a:lnTo>
                    <a:pt x="106893" y="213785"/>
                  </a:lnTo>
                  <a:cubicBezTo>
                    <a:pt x="78543" y="213785"/>
                    <a:pt x="51354" y="202523"/>
                    <a:pt x="31308" y="182477"/>
                  </a:cubicBezTo>
                  <a:cubicBezTo>
                    <a:pt x="11262" y="162431"/>
                    <a:pt x="0" y="135242"/>
                    <a:pt x="0" y="106893"/>
                  </a:cubicBezTo>
                  <a:lnTo>
                    <a:pt x="0" y="106893"/>
                  </a:lnTo>
                  <a:cubicBezTo>
                    <a:pt x="0" y="78543"/>
                    <a:pt x="11262" y="51354"/>
                    <a:pt x="31308" y="31308"/>
                  </a:cubicBezTo>
                  <a:cubicBezTo>
                    <a:pt x="51354" y="11262"/>
                    <a:pt x="78543" y="0"/>
                    <a:pt x="106893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06443" cy="2518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44604" y="769491"/>
            <a:ext cx="9389796" cy="123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49"/>
              </a:lnSpc>
            </a:pPr>
            <a:r>
              <a:rPr lang="en-US" sz="7938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Aim &amp; 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39920" y="2424289"/>
            <a:ext cx="2169471" cy="1016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58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Aim </a:t>
            </a:r>
          </a:p>
          <a:p>
            <a:pPr algn="ctr">
              <a:lnSpc>
                <a:spcPts val="3869"/>
              </a:lnSpc>
            </a:pPr>
            <a:endParaRPr lang="en-US" sz="3583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87208" y="3316996"/>
            <a:ext cx="16073010" cy="1817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56"/>
              </a:lnSpc>
              <a:spcBef>
                <a:spcPct val="0"/>
              </a:spcBef>
            </a:pPr>
            <a:r>
              <a:rPr lang="en-US" sz="2782" spc="1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782" u="none" spc="1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 design and develop a 2-player robotic football arena where each player controls a striker and goalkeeper robot using wireless communication and an interactive web interface, enabling a real-time, competitive and automated gaming experience.</a:t>
            </a:r>
          </a:p>
          <a:p>
            <a:pPr marL="0" lvl="0" indent="0" algn="l">
              <a:lnSpc>
                <a:spcPts val="3216"/>
              </a:lnSpc>
              <a:spcBef>
                <a:spcPct val="0"/>
              </a:spcBef>
            </a:pPr>
            <a:endParaRPr lang="en-US" sz="2782" u="none" spc="16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52514" y="5144219"/>
            <a:ext cx="2544751" cy="1016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</a:pPr>
            <a:r>
              <a:rPr lang="en-US" sz="358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</a:p>
          <a:p>
            <a:pPr algn="ctr">
              <a:lnSpc>
                <a:spcPts val="3869"/>
              </a:lnSpc>
            </a:pPr>
            <a:endParaRPr lang="en-US" sz="3583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86290" y="6122752"/>
            <a:ext cx="17389146" cy="4271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0800" lvl="1" indent="-300400" algn="l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782" spc="1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striker and goalkeeper rob</a:t>
            </a:r>
            <a:r>
              <a:rPr lang="en-US" sz="2782" u="none" spc="1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ots with precise movement</a:t>
            </a:r>
          </a:p>
          <a:p>
            <a:pPr marL="600800" lvl="1" indent="-300400" algn="l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Implement wireless control using joysticks and nRF24L01 modules</a:t>
            </a:r>
          </a:p>
          <a:p>
            <a:pPr marL="600800" lvl="1" indent="-300400" algn="l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a web-based interface to display timer, match status, and live score updates</a:t>
            </a:r>
          </a:p>
          <a:p>
            <a:pPr marL="600800" lvl="1" indent="-300400" algn="l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Detect goals automatically using IR sensor modules</a:t>
            </a:r>
          </a:p>
          <a:p>
            <a:pPr marL="600800" lvl="1" indent="-300400" algn="l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Control goalkeeper movement on a linear rail system using DC motors and limit switches</a:t>
            </a:r>
          </a:p>
          <a:p>
            <a:pPr marL="600800" lvl="1" indent="-300400" algn="l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Ensure all microcontrollers (Arduino, ESP32) communicate reliably in real-time</a:t>
            </a:r>
          </a:p>
          <a:p>
            <a:pPr marL="600800" lvl="1" indent="-300400" algn="l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 a reset and match-restart functionality with scoring history</a:t>
            </a:r>
          </a:p>
          <a:p>
            <a:pPr marL="600800" lvl="1" indent="-300400" algn="l">
              <a:lnSpc>
                <a:spcPts val="3756"/>
              </a:lnSpc>
              <a:spcBef>
                <a:spcPct val="0"/>
              </a:spcBef>
              <a:buFont typeface="Arial"/>
              <a:buChar char="•"/>
            </a:pPr>
            <a:r>
              <a:rPr lang="en-US" sz="2782" u="none" spc="1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Enable a smooth multiplayer experience with minimal delay</a:t>
            </a:r>
          </a:p>
          <a:p>
            <a:pPr marL="0" lvl="0" indent="0" algn="l">
              <a:lnSpc>
                <a:spcPts val="3756"/>
              </a:lnSpc>
              <a:spcBef>
                <a:spcPct val="0"/>
              </a:spcBef>
            </a:pPr>
            <a:endParaRPr lang="en-US" sz="2782" u="none" spc="166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63525" y="656445"/>
            <a:ext cx="10160950" cy="1059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</a:pPr>
            <a:r>
              <a:rPr lang="en-US" sz="6867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&amp;Solutions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9528" y="3056063"/>
            <a:ext cx="15771672" cy="1815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21"/>
              </a:lnSpc>
              <a:spcBef>
                <a:spcPct val="0"/>
              </a:spcBef>
            </a:pPr>
            <a:r>
              <a:rPr lang="en-US" sz="2682" spc="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682" u="none" spc="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raditional tabletop and arcade football games lack realistic control, automation, and accurate scoring. Player actions like shooting or goalkeeping are limited, and scoring is manual and error-prone. Most robotic games are single-player, offering no real-time competition or engaging, automated gameplay.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64096" y="1928885"/>
            <a:ext cx="4315527" cy="803327"/>
            <a:chOff x="0" y="0"/>
            <a:chExt cx="1136600" cy="2115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36600" cy="211576"/>
            </a:xfrm>
            <a:custGeom>
              <a:avLst/>
              <a:gdLst/>
              <a:ahLst/>
              <a:cxnLst/>
              <a:rect l="l" t="t" r="r" b="b"/>
              <a:pathLst>
                <a:path w="1136600" h="211576">
                  <a:moveTo>
                    <a:pt x="91492" y="0"/>
                  </a:moveTo>
                  <a:lnTo>
                    <a:pt x="1045107" y="0"/>
                  </a:lnTo>
                  <a:cubicBezTo>
                    <a:pt x="1095637" y="0"/>
                    <a:pt x="1136600" y="40963"/>
                    <a:pt x="1136600" y="91492"/>
                  </a:cubicBezTo>
                  <a:lnTo>
                    <a:pt x="1136600" y="120084"/>
                  </a:lnTo>
                  <a:cubicBezTo>
                    <a:pt x="1136600" y="170613"/>
                    <a:pt x="1095637" y="211576"/>
                    <a:pt x="1045107" y="211576"/>
                  </a:cubicBezTo>
                  <a:lnTo>
                    <a:pt x="91492" y="211576"/>
                  </a:lnTo>
                  <a:cubicBezTo>
                    <a:pt x="40963" y="211576"/>
                    <a:pt x="0" y="170613"/>
                    <a:pt x="0" y="120084"/>
                  </a:cubicBezTo>
                  <a:lnTo>
                    <a:pt x="0" y="91492"/>
                  </a:lnTo>
                  <a:cubicBezTo>
                    <a:pt x="0" y="40963"/>
                    <a:pt x="40963" y="0"/>
                    <a:pt x="91492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36600" cy="249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79832" y="2046554"/>
            <a:ext cx="3007705" cy="714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3"/>
              </a:lnSpc>
            </a:pPr>
            <a:r>
              <a:rPr lang="en-US" sz="279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Problem</a:t>
            </a:r>
          </a:p>
          <a:p>
            <a:pPr algn="ctr">
              <a:lnSpc>
                <a:spcPts val="2365"/>
              </a:lnSpc>
            </a:pPr>
            <a:endParaRPr lang="en-US" sz="2790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64096" y="5233806"/>
            <a:ext cx="4315527" cy="803327"/>
            <a:chOff x="0" y="0"/>
            <a:chExt cx="1136600" cy="2115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6600" cy="211576"/>
            </a:xfrm>
            <a:custGeom>
              <a:avLst/>
              <a:gdLst/>
              <a:ahLst/>
              <a:cxnLst/>
              <a:rect l="l" t="t" r="r" b="b"/>
              <a:pathLst>
                <a:path w="1136600" h="211576">
                  <a:moveTo>
                    <a:pt x="91492" y="0"/>
                  </a:moveTo>
                  <a:lnTo>
                    <a:pt x="1045107" y="0"/>
                  </a:lnTo>
                  <a:cubicBezTo>
                    <a:pt x="1095637" y="0"/>
                    <a:pt x="1136600" y="40963"/>
                    <a:pt x="1136600" y="91492"/>
                  </a:cubicBezTo>
                  <a:lnTo>
                    <a:pt x="1136600" y="120084"/>
                  </a:lnTo>
                  <a:cubicBezTo>
                    <a:pt x="1136600" y="170613"/>
                    <a:pt x="1095637" y="211576"/>
                    <a:pt x="1045107" y="211576"/>
                  </a:cubicBezTo>
                  <a:lnTo>
                    <a:pt x="91492" y="211576"/>
                  </a:lnTo>
                  <a:cubicBezTo>
                    <a:pt x="40963" y="211576"/>
                    <a:pt x="0" y="170613"/>
                    <a:pt x="0" y="120084"/>
                  </a:cubicBezTo>
                  <a:lnTo>
                    <a:pt x="0" y="91492"/>
                  </a:lnTo>
                  <a:cubicBezTo>
                    <a:pt x="0" y="40963"/>
                    <a:pt x="40963" y="0"/>
                    <a:pt x="91492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36600" cy="249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40563" y="5386251"/>
            <a:ext cx="4562592" cy="1095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3"/>
              </a:lnSpc>
            </a:pPr>
            <a:r>
              <a:rPr lang="en-US" sz="279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Solution and features</a:t>
            </a:r>
          </a:p>
          <a:p>
            <a:pPr algn="ctr">
              <a:lnSpc>
                <a:spcPts val="3013"/>
              </a:lnSpc>
            </a:pPr>
            <a:endParaRPr lang="en-US" sz="2790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365"/>
              </a:lnSpc>
            </a:pPr>
            <a:endParaRPr lang="en-US" sz="2790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64096" y="6332408"/>
            <a:ext cx="15771672" cy="364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21"/>
              </a:lnSpc>
              <a:spcBef>
                <a:spcPct val="0"/>
              </a:spcBef>
            </a:pPr>
            <a:r>
              <a:rPr lang="en-US" sz="2682" spc="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KickBots A</a:t>
            </a:r>
            <a:r>
              <a:rPr lang="en-US" sz="2682" u="none" spc="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rena is a 2-player robotic football game with full automation and wireless control.</a:t>
            </a:r>
          </a:p>
          <a:p>
            <a:pPr marL="579212" lvl="1" indent="-289606" algn="l">
              <a:lnSpc>
                <a:spcPts val="3621"/>
              </a:lnSpc>
              <a:spcBef>
                <a:spcPct val="0"/>
              </a:spcBef>
              <a:buFont typeface="Arial"/>
              <a:buChar char="•"/>
            </a:pPr>
            <a:r>
              <a:rPr lang="en-US" sz="2682" u="none" spc="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Each player controls two robots: a striker (with a kicker) and a goalkeeper (on a rail).</a:t>
            </a:r>
          </a:p>
          <a:p>
            <a:pPr marL="579212" lvl="1" indent="-289606" algn="l">
              <a:lnSpc>
                <a:spcPts val="3621"/>
              </a:lnSpc>
              <a:spcBef>
                <a:spcPct val="0"/>
              </a:spcBef>
              <a:buFont typeface="Arial"/>
              <a:buChar char="•"/>
            </a:pPr>
            <a:r>
              <a:rPr lang="en-US" sz="2682" u="none" spc="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IR sensors detect goals, and scores update instantly on a web app.</a:t>
            </a:r>
          </a:p>
          <a:p>
            <a:pPr marL="579212" lvl="1" indent="-289606" algn="l">
              <a:lnSpc>
                <a:spcPts val="3621"/>
              </a:lnSpc>
              <a:spcBef>
                <a:spcPct val="0"/>
              </a:spcBef>
              <a:buFont typeface="Arial"/>
              <a:buChar char="•"/>
            </a:pPr>
            <a:r>
              <a:rPr lang="en-US" sz="2682" u="none" spc="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web interface handles match time, controls, and winner display.</a:t>
            </a:r>
          </a:p>
          <a:p>
            <a:pPr marL="579212" lvl="1" indent="-289606" algn="l">
              <a:lnSpc>
                <a:spcPts val="3621"/>
              </a:lnSpc>
              <a:spcBef>
                <a:spcPct val="0"/>
              </a:spcBef>
              <a:buFont typeface="Arial"/>
              <a:buChar char="•"/>
            </a:pPr>
            <a:r>
              <a:rPr lang="en-US" sz="2682" u="none" spc="1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Wireless modules ensure smooth and responsive gameplay.</a:t>
            </a:r>
          </a:p>
          <a:p>
            <a:pPr marL="0" lvl="0" indent="0" algn="l">
              <a:lnSpc>
                <a:spcPts val="3621"/>
              </a:lnSpc>
              <a:spcBef>
                <a:spcPct val="0"/>
              </a:spcBef>
            </a:pPr>
            <a:endParaRPr lang="en-US" sz="2682" u="none" spc="16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3621"/>
              </a:lnSpc>
              <a:spcBef>
                <a:spcPct val="0"/>
              </a:spcBef>
            </a:pPr>
            <a:endParaRPr lang="en-US" sz="2682" u="none" spc="16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14600" y="1821263"/>
            <a:ext cx="12937095" cy="8465737"/>
          </a:xfrm>
          <a:custGeom>
            <a:avLst/>
            <a:gdLst/>
            <a:ahLst/>
            <a:cxnLst/>
            <a:rect l="l" t="t" r="r" b="b"/>
            <a:pathLst>
              <a:path w="13547772" h="9551587">
                <a:moveTo>
                  <a:pt x="0" y="0"/>
                </a:moveTo>
                <a:lnTo>
                  <a:pt x="13547772" y="0"/>
                </a:lnTo>
                <a:lnTo>
                  <a:pt x="13547772" y="9551587"/>
                </a:lnTo>
                <a:lnTo>
                  <a:pt x="0" y="9551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12" r="-97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96774" y="251784"/>
            <a:ext cx="6036285" cy="140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6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Block diagram</a:t>
            </a:r>
          </a:p>
          <a:p>
            <a:pPr algn="ctr">
              <a:lnSpc>
                <a:spcPts val="4447"/>
              </a:lnSpc>
            </a:pPr>
            <a:endParaRPr lang="en-US" sz="6180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50947" y="671934"/>
            <a:ext cx="3111453" cy="585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23"/>
              </a:lnSpc>
              <a:spcBef>
                <a:spcPct val="0"/>
              </a:spcBef>
            </a:pPr>
            <a:r>
              <a:rPr lang="en-US" sz="3445" b="1" dirty="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01. ARENA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1458" y="176546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0" y="0"/>
                </a:moveTo>
                <a:lnTo>
                  <a:pt x="14630400" y="0"/>
                </a:lnTo>
                <a:lnTo>
                  <a:pt x="146304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25858" y="527763"/>
            <a:ext cx="6036285" cy="140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6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Block diagram</a:t>
            </a:r>
          </a:p>
          <a:p>
            <a:pPr algn="ctr">
              <a:lnSpc>
                <a:spcPts val="4447"/>
              </a:lnSpc>
            </a:pPr>
            <a:endParaRPr lang="en-US" sz="6180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310911"/>
            <a:ext cx="1692315" cy="618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3"/>
              </a:lnSpc>
              <a:spcBef>
                <a:spcPct val="0"/>
              </a:spcBef>
            </a:pPr>
            <a:r>
              <a:rPr lang="en-US" sz="3445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02. CAR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299" y="1667678"/>
            <a:ext cx="14808603" cy="8314756"/>
          </a:xfrm>
          <a:custGeom>
            <a:avLst/>
            <a:gdLst/>
            <a:ahLst/>
            <a:cxnLst/>
            <a:rect l="l" t="t" r="r" b="b"/>
            <a:pathLst>
              <a:path w="14808603" h="8314756">
                <a:moveTo>
                  <a:pt x="0" y="0"/>
                </a:moveTo>
                <a:lnTo>
                  <a:pt x="14808603" y="0"/>
                </a:lnTo>
                <a:lnTo>
                  <a:pt x="14808603" y="8314756"/>
                </a:lnTo>
                <a:lnTo>
                  <a:pt x="0" y="8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25858" y="527763"/>
            <a:ext cx="6036285" cy="1401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6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Block diagram</a:t>
            </a:r>
          </a:p>
          <a:p>
            <a:pPr algn="ctr">
              <a:lnSpc>
                <a:spcPts val="4447"/>
              </a:lnSpc>
            </a:pPr>
            <a:endParaRPr lang="en-US" sz="6180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1266" y="1310911"/>
            <a:ext cx="4922333" cy="585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23"/>
              </a:lnSpc>
              <a:spcBef>
                <a:spcPct val="0"/>
              </a:spcBef>
            </a:pPr>
            <a:r>
              <a:rPr lang="en-US" sz="3445" b="1" dirty="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03. CONTROLLER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70485" y="1769132"/>
            <a:ext cx="11492845" cy="8289215"/>
          </a:xfrm>
          <a:custGeom>
            <a:avLst/>
            <a:gdLst/>
            <a:ahLst/>
            <a:cxnLst/>
            <a:rect l="l" t="t" r="r" b="b"/>
            <a:pathLst>
              <a:path w="11492845" h="8289215">
                <a:moveTo>
                  <a:pt x="0" y="0"/>
                </a:moveTo>
                <a:lnTo>
                  <a:pt x="11492845" y="0"/>
                </a:lnTo>
                <a:lnTo>
                  <a:pt x="11492845" y="8289214"/>
                </a:lnTo>
                <a:lnTo>
                  <a:pt x="0" y="8289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634660"/>
            <a:ext cx="8805020" cy="864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5"/>
              </a:lnSpc>
            </a:pPr>
            <a:r>
              <a:rPr lang="en-US" sz="6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Circuit Diagram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527515"/>
            <a:ext cx="2171700" cy="511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3606" lvl="1" indent="-386803" algn="ctr">
              <a:lnSpc>
                <a:spcPts val="3869"/>
              </a:lnSpc>
              <a:spcBef>
                <a:spcPct val="0"/>
              </a:spcBef>
              <a:buAutoNum type="arabicPeriod"/>
            </a:pPr>
            <a:r>
              <a:rPr lang="en-US" sz="3583" dirty="0">
                <a:solidFill>
                  <a:srgbClr val="1C2120"/>
                </a:solidFill>
                <a:latin typeface="Georgia Pro"/>
                <a:ea typeface="Georgia Pro"/>
                <a:cs typeface="Georgia Pro"/>
                <a:sym typeface="Georgia Pro"/>
              </a:rPr>
              <a:t>Car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70372" y="1569083"/>
            <a:ext cx="11857415" cy="8181616"/>
          </a:xfrm>
          <a:custGeom>
            <a:avLst/>
            <a:gdLst/>
            <a:ahLst/>
            <a:cxnLst/>
            <a:rect l="l" t="t" r="r" b="b"/>
            <a:pathLst>
              <a:path w="11857415" h="8181616">
                <a:moveTo>
                  <a:pt x="0" y="0"/>
                </a:moveTo>
                <a:lnTo>
                  <a:pt x="11857414" y="0"/>
                </a:lnTo>
                <a:lnTo>
                  <a:pt x="11857414" y="8181616"/>
                </a:lnTo>
                <a:lnTo>
                  <a:pt x="0" y="818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57275"/>
            <a:ext cx="3238500" cy="511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  <a:spcBef>
                <a:spcPct val="0"/>
              </a:spcBef>
            </a:pPr>
            <a:r>
              <a:rPr lang="en-US" sz="3583" dirty="0">
                <a:solidFill>
                  <a:srgbClr val="1C2120"/>
                </a:solidFill>
                <a:latin typeface="Georgia Pro"/>
                <a:ea typeface="Georgia Pro"/>
                <a:cs typeface="Georgia Pro"/>
                <a:sym typeface="Georgia Pro"/>
              </a:rPr>
              <a:t>2. Controller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90923" y="1569083"/>
            <a:ext cx="11165145" cy="8401771"/>
          </a:xfrm>
          <a:custGeom>
            <a:avLst/>
            <a:gdLst/>
            <a:ahLst/>
            <a:cxnLst/>
            <a:rect l="l" t="t" r="r" b="b"/>
            <a:pathLst>
              <a:path w="11165145" h="8401771">
                <a:moveTo>
                  <a:pt x="0" y="0"/>
                </a:moveTo>
                <a:lnTo>
                  <a:pt x="11165145" y="0"/>
                </a:lnTo>
                <a:lnTo>
                  <a:pt x="11165145" y="8401771"/>
                </a:lnTo>
                <a:lnTo>
                  <a:pt x="0" y="8401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6829" y="1057275"/>
            <a:ext cx="2954417" cy="51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9"/>
              </a:lnSpc>
              <a:spcBef>
                <a:spcPct val="0"/>
              </a:spcBef>
            </a:pPr>
            <a:r>
              <a:rPr lang="en-US" sz="3583">
                <a:solidFill>
                  <a:srgbClr val="1C2120"/>
                </a:solidFill>
                <a:latin typeface="Georgia Pro"/>
                <a:ea typeface="Georgia Pro"/>
                <a:cs typeface="Georgia Pro"/>
                <a:sym typeface="Georgia Pro"/>
              </a:rPr>
              <a:t>3. Goal Keeper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8595" y="584054"/>
            <a:ext cx="17013932" cy="9183367"/>
          </a:xfrm>
          <a:custGeom>
            <a:avLst/>
            <a:gdLst/>
            <a:ahLst/>
            <a:cxnLst/>
            <a:rect l="l" t="t" r="r" b="b"/>
            <a:pathLst>
              <a:path w="17013932" h="9183367">
                <a:moveTo>
                  <a:pt x="0" y="0"/>
                </a:moveTo>
                <a:lnTo>
                  <a:pt x="17013932" y="0"/>
                </a:lnTo>
                <a:lnTo>
                  <a:pt x="17013932" y="9183368"/>
                </a:lnTo>
                <a:lnTo>
                  <a:pt x="0" y="9183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67" r="-6667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754" y="82439"/>
            <a:ext cx="17259300" cy="10204561"/>
          </a:xfrm>
          <a:custGeom>
            <a:avLst/>
            <a:gdLst/>
            <a:ahLst/>
            <a:cxnLst/>
            <a:rect l="l" t="t" r="r" b="b"/>
            <a:pathLst>
              <a:path w="17259300" h="10204561">
                <a:moveTo>
                  <a:pt x="0" y="0"/>
                </a:moveTo>
                <a:lnTo>
                  <a:pt x="17259300" y="0"/>
                </a:lnTo>
                <a:lnTo>
                  <a:pt x="17259300" y="10204561"/>
                </a:lnTo>
                <a:lnTo>
                  <a:pt x="0" y="10204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6661" y="0"/>
            <a:ext cx="15552639" cy="10186978"/>
          </a:xfrm>
          <a:custGeom>
            <a:avLst/>
            <a:gdLst/>
            <a:ahLst/>
            <a:cxnLst/>
            <a:rect l="l" t="t" r="r" b="b"/>
            <a:pathLst>
              <a:path w="15552639" h="10186978">
                <a:moveTo>
                  <a:pt x="0" y="0"/>
                </a:moveTo>
                <a:lnTo>
                  <a:pt x="15552639" y="0"/>
                </a:lnTo>
                <a:lnTo>
                  <a:pt x="15552639" y="10186978"/>
                </a:lnTo>
                <a:lnTo>
                  <a:pt x="0" y="10186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6375" y="217797"/>
            <a:ext cx="14917337" cy="10069203"/>
          </a:xfrm>
          <a:custGeom>
            <a:avLst/>
            <a:gdLst/>
            <a:ahLst/>
            <a:cxnLst/>
            <a:rect l="l" t="t" r="r" b="b"/>
            <a:pathLst>
              <a:path w="14917337" h="10069203">
                <a:moveTo>
                  <a:pt x="0" y="0"/>
                </a:moveTo>
                <a:lnTo>
                  <a:pt x="14917337" y="0"/>
                </a:lnTo>
                <a:lnTo>
                  <a:pt x="14917337" y="10069203"/>
                </a:lnTo>
                <a:lnTo>
                  <a:pt x="0" y="10069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0281" y="1463153"/>
            <a:ext cx="2344673" cy="2942635"/>
          </a:xfrm>
          <a:custGeom>
            <a:avLst/>
            <a:gdLst/>
            <a:ahLst/>
            <a:cxnLst/>
            <a:rect l="l" t="t" r="r" b="b"/>
            <a:pathLst>
              <a:path w="2344673" h="2942635">
                <a:moveTo>
                  <a:pt x="0" y="0"/>
                </a:moveTo>
                <a:lnTo>
                  <a:pt x="2344673" y="0"/>
                </a:lnTo>
                <a:lnTo>
                  <a:pt x="2344673" y="2942635"/>
                </a:lnTo>
                <a:lnTo>
                  <a:pt x="0" y="2942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119" b="-311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03554" y="1510778"/>
            <a:ext cx="2767403" cy="2942635"/>
          </a:xfrm>
          <a:custGeom>
            <a:avLst/>
            <a:gdLst/>
            <a:ahLst/>
            <a:cxnLst/>
            <a:rect l="l" t="t" r="r" b="b"/>
            <a:pathLst>
              <a:path w="2767403" h="2942635">
                <a:moveTo>
                  <a:pt x="0" y="0"/>
                </a:moveTo>
                <a:lnTo>
                  <a:pt x="2767404" y="0"/>
                </a:lnTo>
                <a:lnTo>
                  <a:pt x="2767404" y="2942635"/>
                </a:lnTo>
                <a:lnTo>
                  <a:pt x="0" y="2942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696" b="-1269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199558" y="1510778"/>
            <a:ext cx="4545360" cy="2942635"/>
          </a:xfrm>
          <a:custGeom>
            <a:avLst/>
            <a:gdLst/>
            <a:ahLst/>
            <a:cxnLst/>
            <a:rect l="l" t="t" r="r" b="b"/>
            <a:pathLst>
              <a:path w="4545360" h="2942635">
                <a:moveTo>
                  <a:pt x="0" y="0"/>
                </a:moveTo>
                <a:lnTo>
                  <a:pt x="4545359" y="0"/>
                </a:lnTo>
                <a:lnTo>
                  <a:pt x="4545359" y="2942635"/>
                </a:lnTo>
                <a:lnTo>
                  <a:pt x="0" y="2942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924" b="-792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969475" y="1463153"/>
            <a:ext cx="2747218" cy="2942635"/>
          </a:xfrm>
          <a:custGeom>
            <a:avLst/>
            <a:gdLst/>
            <a:ahLst/>
            <a:cxnLst/>
            <a:rect l="l" t="t" r="r" b="b"/>
            <a:pathLst>
              <a:path w="2747218" h="2942635">
                <a:moveTo>
                  <a:pt x="0" y="0"/>
                </a:moveTo>
                <a:lnTo>
                  <a:pt x="2747217" y="0"/>
                </a:lnTo>
                <a:lnTo>
                  <a:pt x="2747217" y="2942635"/>
                </a:lnTo>
                <a:lnTo>
                  <a:pt x="0" y="2942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239" b="-1223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107217" y="1510778"/>
            <a:ext cx="3687410" cy="8263081"/>
          </a:xfrm>
          <a:custGeom>
            <a:avLst/>
            <a:gdLst/>
            <a:ahLst/>
            <a:cxnLst/>
            <a:rect l="l" t="t" r="r" b="b"/>
            <a:pathLst>
              <a:path w="3687410" h="8263081">
                <a:moveTo>
                  <a:pt x="0" y="0"/>
                </a:moveTo>
                <a:lnTo>
                  <a:pt x="3687410" y="0"/>
                </a:lnTo>
                <a:lnTo>
                  <a:pt x="3687410" y="8263081"/>
                </a:lnTo>
                <a:lnTo>
                  <a:pt x="0" y="8263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0" r="-182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30281" y="4754120"/>
            <a:ext cx="3960572" cy="5019739"/>
          </a:xfrm>
          <a:custGeom>
            <a:avLst/>
            <a:gdLst/>
            <a:ahLst/>
            <a:cxnLst/>
            <a:rect l="l" t="t" r="r" b="b"/>
            <a:pathLst>
              <a:path w="3960572" h="5019739">
                <a:moveTo>
                  <a:pt x="0" y="0"/>
                </a:moveTo>
                <a:lnTo>
                  <a:pt x="3960573" y="0"/>
                </a:lnTo>
                <a:lnTo>
                  <a:pt x="3960573" y="5019739"/>
                </a:lnTo>
                <a:lnTo>
                  <a:pt x="0" y="5019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8979" b="-3161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983472" y="4754120"/>
            <a:ext cx="3754218" cy="5019739"/>
          </a:xfrm>
          <a:custGeom>
            <a:avLst/>
            <a:gdLst/>
            <a:ahLst/>
            <a:cxnLst/>
            <a:rect l="l" t="t" r="r" b="b"/>
            <a:pathLst>
              <a:path w="3754218" h="5019739">
                <a:moveTo>
                  <a:pt x="0" y="0"/>
                </a:moveTo>
                <a:lnTo>
                  <a:pt x="3754219" y="0"/>
                </a:lnTo>
                <a:lnTo>
                  <a:pt x="3754219" y="5019739"/>
                </a:lnTo>
                <a:lnTo>
                  <a:pt x="0" y="5019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9139" r="-3913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906493" y="4754120"/>
            <a:ext cx="4829249" cy="5019739"/>
          </a:xfrm>
          <a:custGeom>
            <a:avLst/>
            <a:gdLst/>
            <a:ahLst/>
            <a:cxnLst/>
            <a:rect l="l" t="t" r="r" b="b"/>
            <a:pathLst>
              <a:path w="4829249" h="5019739">
                <a:moveTo>
                  <a:pt x="0" y="0"/>
                </a:moveTo>
                <a:lnTo>
                  <a:pt x="4829249" y="0"/>
                </a:lnTo>
                <a:lnTo>
                  <a:pt x="4829249" y="5019739"/>
                </a:lnTo>
                <a:lnTo>
                  <a:pt x="0" y="5019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4143" r="-14448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04998" y="733425"/>
            <a:ext cx="12078003" cy="108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458"/>
              </a:lnSpc>
              <a:spcBef>
                <a:spcPct val="0"/>
              </a:spcBef>
            </a:pPr>
            <a:r>
              <a:rPr lang="en-US" sz="7689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 Components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26646" y="2079860"/>
            <a:ext cx="17401933" cy="7812766"/>
            <a:chOff x="0" y="0"/>
            <a:chExt cx="5825440" cy="26153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825440" cy="2615388"/>
            </a:xfrm>
            <a:custGeom>
              <a:avLst/>
              <a:gdLst/>
              <a:ahLst/>
              <a:cxnLst/>
              <a:rect l="l" t="t" r="r" b="b"/>
              <a:pathLst>
                <a:path w="5825440" h="2615388">
                  <a:moveTo>
                    <a:pt x="22244" y="0"/>
                  </a:moveTo>
                  <a:lnTo>
                    <a:pt x="5803196" y="0"/>
                  </a:lnTo>
                  <a:cubicBezTo>
                    <a:pt x="5809095" y="0"/>
                    <a:pt x="5814753" y="2344"/>
                    <a:pt x="5818925" y="6515"/>
                  </a:cubicBezTo>
                  <a:cubicBezTo>
                    <a:pt x="5823097" y="10687"/>
                    <a:pt x="5825440" y="16345"/>
                    <a:pt x="5825440" y="22244"/>
                  </a:cubicBezTo>
                  <a:lnTo>
                    <a:pt x="5825440" y="2593143"/>
                  </a:lnTo>
                  <a:cubicBezTo>
                    <a:pt x="5825440" y="2599043"/>
                    <a:pt x="5823097" y="2604701"/>
                    <a:pt x="5818925" y="2608873"/>
                  </a:cubicBezTo>
                  <a:cubicBezTo>
                    <a:pt x="5814753" y="2613044"/>
                    <a:pt x="5809095" y="2615388"/>
                    <a:pt x="5803196" y="2615388"/>
                  </a:cubicBezTo>
                  <a:lnTo>
                    <a:pt x="22244" y="2615388"/>
                  </a:lnTo>
                  <a:cubicBezTo>
                    <a:pt x="16345" y="2615388"/>
                    <a:pt x="10687" y="2613044"/>
                    <a:pt x="6515" y="2608873"/>
                  </a:cubicBezTo>
                  <a:cubicBezTo>
                    <a:pt x="2344" y="2604701"/>
                    <a:pt x="0" y="2599043"/>
                    <a:pt x="0" y="2593143"/>
                  </a:cubicBezTo>
                  <a:lnTo>
                    <a:pt x="0" y="22244"/>
                  </a:lnTo>
                  <a:cubicBezTo>
                    <a:pt x="0" y="16345"/>
                    <a:pt x="2344" y="10687"/>
                    <a:pt x="6515" y="6515"/>
                  </a:cubicBezTo>
                  <a:cubicBezTo>
                    <a:pt x="10687" y="2344"/>
                    <a:pt x="16345" y="0"/>
                    <a:pt x="22244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5825440" cy="2529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042" y="2368003"/>
            <a:ext cx="5382124" cy="7215516"/>
            <a:chOff x="0" y="0"/>
            <a:chExt cx="1417514" cy="19003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7514" cy="1900383"/>
            </a:xfrm>
            <a:custGeom>
              <a:avLst/>
              <a:gdLst/>
              <a:ahLst/>
              <a:cxnLst/>
              <a:rect l="l" t="t" r="r" b="b"/>
              <a:pathLst>
                <a:path w="1417514" h="1900383">
                  <a:moveTo>
                    <a:pt x="73361" y="0"/>
                  </a:moveTo>
                  <a:lnTo>
                    <a:pt x="1344153" y="0"/>
                  </a:lnTo>
                  <a:cubicBezTo>
                    <a:pt x="1384669" y="0"/>
                    <a:pt x="1417514" y="32845"/>
                    <a:pt x="1417514" y="73361"/>
                  </a:cubicBezTo>
                  <a:lnTo>
                    <a:pt x="1417514" y="1827022"/>
                  </a:lnTo>
                  <a:cubicBezTo>
                    <a:pt x="1417514" y="1867538"/>
                    <a:pt x="1384669" y="1900383"/>
                    <a:pt x="1344153" y="1900383"/>
                  </a:cubicBezTo>
                  <a:lnTo>
                    <a:pt x="73361" y="1900383"/>
                  </a:lnTo>
                  <a:cubicBezTo>
                    <a:pt x="53904" y="1900383"/>
                    <a:pt x="35245" y="1892654"/>
                    <a:pt x="21487" y="1878896"/>
                  </a:cubicBezTo>
                  <a:cubicBezTo>
                    <a:pt x="7729" y="1865138"/>
                    <a:pt x="0" y="1846478"/>
                    <a:pt x="0" y="1827022"/>
                  </a:cubicBezTo>
                  <a:lnTo>
                    <a:pt x="0" y="73361"/>
                  </a:lnTo>
                  <a:cubicBezTo>
                    <a:pt x="0" y="32845"/>
                    <a:pt x="32845" y="0"/>
                    <a:pt x="733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417514" cy="1957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u="sng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STRIKER ROBOTS </a:t>
              </a:r>
            </a:p>
            <a:p>
              <a:pPr algn="ctr">
                <a:lnSpc>
                  <a:spcPts val="2940"/>
                </a:lnSpc>
              </a:pPr>
              <a:endParaRPr lang="en-US" sz="2999" b="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Arduino Uno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Motor Driver ( L298N)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4× BO gear motors (150–200 RPM)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Mini Servor (Kicker)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nRF24L01 wireless receiver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2× 18650 Li-ion cells (7.4 V total)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Acrylic or 3D printed chassis (~12–15 cm × 10 cm × 7 cm)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318999" y="2368003"/>
            <a:ext cx="5650002" cy="7215516"/>
            <a:chOff x="0" y="0"/>
            <a:chExt cx="1488066" cy="19003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88066" cy="1900383"/>
            </a:xfrm>
            <a:custGeom>
              <a:avLst/>
              <a:gdLst/>
              <a:ahLst/>
              <a:cxnLst/>
              <a:rect l="l" t="t" r="r" b="b"/>
              <a:pathLst>
                <a:path w="1488066" h="1900383">
                  <a:moveTo>
                    <a:pt x="69883" y="0"/>
                  </a:moveTo>
                  <a:lnTo>
                    <a:pt x="1418184" y="0"/>
                  </a:lnTo>
                  <a:cubicBezTo>
                    <a:pt x="1436718" y="0"/>
                    <a:pt x="1454493" y="7363"/>
                    <a:pt x="1467598" y="20468"/>
                  </a:cubicBezTo>
                  <a:cubicBezTo>
                    <a:pt x="1480704" y="33574"/>
                    <a:pt x="1488066" y="51349"/>
                    <a:pt x="1488066" y="69883"/>
                  </a:cubicBezTo>
                  <a:lnTo>
                    <a:pt x="1488066" y="1830500"/>
                  </a:lnTo>
                  <a:cubicBezTo>
                    <a:pt x="1488066" y="1849034"/>
                    <a:pt x="1480704" y="1866809"/>
                    <a:pt x="1467598" y="1879915"/>
                  </a:cubicBezTo>
                  <a:cubicBezTo>
                    <a:pt x="1454493" y="1893020"/>
                    <a:pt x="1436718" y="1900383"/>
                    <a:pt x="1418184" y="1900383"/>
                  </a:cubicBezTo>
                  <a:lnTo>
                    <a:pt x="69883" y="1900383"/>
                  </a:lnTo>
                  <a:cubicBezTo>
                    <a:pt x="51349" y="1900383"/>
                    <a:pt x="33574" y="1893020"/>
                    <a:pt x="20468" y="1879915"/>
                  </a:cubicBezTo>
                  <a:cubicBezTo>
                    <a:pt x="7363" y="1866809"/>
                    <a:pt x="0" y="1849034"/>
                    <a:pt x="0" y="1830500"/>
                  </a:cubicBezTo>
                  <a:lnTo>
                    <a:pt x="0" y="69883"/>
                  </a:lnTo>
                  <a:cubicBezTo>
                    <a:pt x="0" y="51349"/>
                    <a:pt x="7363" y="33574"/>
                    <a:pt x="20468" y="20468"/>
                  </a:cubicBezTo>
                  <a:cubicBezTo>
                    <a:pt x="33574" y="7363"/>
                    <a:pt x="51349" y="0"/>
                    <a:pt x="698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488066" cy="1957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u="sng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JOYSTICK CONTROLLER</a:t>
              </a:r>
            </a:p>
            <a:p>
              <a:pPr algn="l">
                <a:lnSpc>
                  <a:spcPts val="3499"/>
                </a:lnSpc>
              </a:pPr>
              <a:endParaRPr lang="en-US" sz="2999" b="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endParaRP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Arduino Nano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2× Joysticks (for striker &amp; goalkeeper)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Push button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nRF24L01 wireless transmitter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1× 18650 Li-ion battery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Boost converter (5V output)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AMS1117 voltage regulator (3.3V for nRF module)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270958" y="2425153"/>
            <a:ext cx="5369427" cy="6890297"/>
            <a:chOff x="0" y="0"/>
            <a:chExt cx="1414170" cy="18147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14170" cy="1814728"/>
            </a:xfrm>
            <a:custGeom>
              <a:avLst/>
              <a:gdLst/>
              <a:ahLst/>
              <a:cxnLst/>
              <a:rect l="l" t="t" r="r" b="b"/>
              <a:pathLst>
                <a:path w="1414170" h="1814728">
                  <a:moveTo>
                    <a:pt x="73534" y="0"/>
                  </a:moveTo>
                  <a:lnTo>
                    <a:pt x="1340636" y="0"/>
                  </a:lnTo>
                  <a:cubicBezTo>
                    <a:pt x="1360138" y="0"/>
                    <a:pt x="1378842" y="7747"/>
                    <a:pt x="1392632" y="21538"/>
                  </a:cubicBezTo>
                  <a:cubicBezTo>
                    <a:pt x="1406423" y="35328"/>
                    <a:pt x="1414170" y="54032"/>
                    <a:pt x="1414170" y="73534"/>
                  </a:cubicBezTo>
                  <a:lnTo>
                    <a:pt x="1414170" y="1741194"/>
                  </a:lnTo>
                  <a:cubicBezTo>
                    <a:pt x="1414170" y="1781806"/>
                    <a:pt x="1381247" y="1814728"/>
                    <a:pt x="1340636" y="1814728"/>
                  </a:cubicBezTo>
                  <a:lnTo>
                    <a:pt x="73534" y="1814728"/>
                  </a:lnTo>
                  <a:cubicBezTo>
                    <a:pt x="54032" y="1814728"/>
                    <a:pt x="35328" y="1806981"/>
                    <a:pt x="21538" y="1793191"/>
                  </a:cubicBezTo>
                  <a:cubicBezTo>
                    <a:pt x="7747" y="1779400"/>
                    <a:pt x="0" y="1760696"/>
                    <a:pt x="0" y="1741194"/>
                  </a:cubicBezTo>
                  <a:lnTo>
                    <a:pt x="0" y="73534"/>
                  </a:lnTo>
                  <a:cubicBezTo>
                    <a:pt x="0" y="54032"/>
                    <a:pt x="7747" y="35328"/>
                    <a:pt x="21538" y="21538"/>
                  </a:cubicBezTo>
                  <a:cubicBezTo>
                    <a:pt x="35328" y="7747"/>
                    <a:pt x="54032" y="0"/>
                    <a:pt x="735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414170" cy="1871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u="sng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ARENA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ESP32 WROOM32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NEMA 17 Stepper Motor 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GT2 timing belt or linear slide system (20 cm travel range)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A4988 motor driver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Limit switches (left/right ends)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nRF24L01 wireless receiver</a:t>
              </a:r>
            </a:p>
            <a:p>
              <a:pPr marL="539748" lvl="1" indent="-269874" algn="l">
                <a:lnSpc>
                  <a:spcPts val="4374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6–9 V DC power supply </a:t>
              </a:r>
            </a:p>
            <a:p>
              <a:pPr algn="l">
                <a:lnSpc>
                  <a:spcPts val="4374"/>
                </a:lnSpc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     (shared)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96570" y="2187240"/>
            <a:ext cx="12894861" cy="7385076"/>
            <a:chOff x="0" y="0"/>
            <a:chExt cx="4316661" cy="2472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16661" cy="2472215"/>
            </a:xfrm>
            <a:custGeom>
              <a:avLst/>
              <a:gdLst/>
              <a:ahLst/>
              <a:cxnLst/>
              <a:rect l="l" t="t" r="r" b="b"/>
              <a:pathLst>
                <a:path w="4316661" h="2472215">
                  <a:moveTo>
                    <a:pt x="30019" y="0"/>
                  </a:moveTo>
                  <a:lnTo>
                    <a:pt x="4286641" y="0"/>
                  </a:lnTo>
                  <a:cubicBezTo>
                    <a:pt x="4303220" y="0"/>
                    <a:pt x="4316661" y="13440"/>
                    <a:pt x="4316661" y="30019"/>
                  </a:cubicBezTo>
                  <a:lnTo>
                    <a:pt x="4316661" y="2442195"/>
                  </a:lnTo>
                  <a:cubicBezTo>
                    <a:pt x="4316661" y="2450157"/>
                    <a:pt x="4313498" y="2457793"/>
                    <a:pt x="4307868" y="2463422"/>
                  </a:cubicBezTo>
                  <a:cubicBezTo>
                    <a:pt x="4302238" y="2469052"/>
                    <a:pt x="4294603" y="2472215"/>
                    <a:pt x="4286641" y="2472215"/>
                  </a:cubicBezTo>
                  <a:lnTo>
                    <a:pt x="30019" y="2472215"/>
                  </a:lnTo>
                  <a:cubicBezTo>
                    <a:pt x="13440" y="2472215"/>
                    <a:pt x="0" y="2458775"/>
                    <a:pt x="0" y="2442195"/>
                  </a:cubicBezTo>
                  <a:lnTo>
                    <a:pt x="0" y="30019"/>
                  </a:lnTo>
                  <a:cubicBezTo>
                    <a:pt x="0" y="13440"/>
                    <a:pt x="13440" y="0"/>
                    <a:pt x="3001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4316661" cy="238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429832" y="2334996"/>
            <a:ext cx="12419767" cy="77549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331" lvl="1" indent="-367166" algn="l">
              <a:lnSpc>
                <a:spcPts val="6802"/>
              </a:lnSpc>
              <a:buFont typeface="Arial"/>
              <a:buChar char="•"/>
            </a:pPr>
            <a:r>
              <a:rPr lang="en-US" sz="3401" b="1" dirty="0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Platform: </a:t>
            </a:r>
          </a:p>
          <a:p>
            <a:pPr algn="l">
              <a:lnSpc>
                <a:spcPts val="6802"/>
              </a:lnSpc>
            </a:pPr>
            <a:r>
              <a:rPr lang="en-US" sz="3401" dirty="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              HTML, JSON, Python, Arduino IDE, CSS ,JS</a:t>
            </a:r>
          </a:p>
          <a:p>
            <a:pPr marL="734331" lvl="1" indent="-367166" algn="l">
              <a:lnSpc>
                <a:spcPts val="6802"/>
              </a:lnSpc>
              <a:buFont typeface="Arial"/>
              <a:buChar char="•"/>
            </a:pPr>
            <a:r>
              <a:rPr lang="en-US" sz="3401" b="1" dirty="0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Main Functions:</a:t>
            </a:r>
          </a:p>
          <a:p>
            <a:pPr algn="l">
              <a:lnSpc>
                <a:spcPts val="6802"/>
              </a:lnSpc>
            </a:pPr>
            <a:r>
              <a:rPr lang="en-US" sz="3401" b="1" dirty="0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    </a:t>
            </a:r>
            <a:r>
              <a:rPr lang="en-US" sz="3401" dirty="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         Display real-time score and timer</a:t>
            </a:r>
          </a:p>
          <a:p>
            <a:pPr algn="l">
              <a:lnSpc>
                <a:spcPts val="6802"/>
              </a:lnSpc>
            </a:pPr>
            <a:r>
              <a:rPr lang="en-US" sz="3401" dirty="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            Detect and register goals via IR break Beam sensor</a:t>
            </a:r>
          </a:p>
          <a:p>
            <a:pPr algn="l">
              <a:lnSpc>
                <a:spcPts val="6802"/>
              </a:lnSpc>
            </a:pPr>
            <a:r>
              <a:rPr lang="en-US" sz="3401" dirty="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            Handle game start, pause, and reset</a:t>
            </a:r>
          </a:p>
          <a:p>
            <a:pPr algn="l">
              <a:lnSpc>
                <a:spcPts val="6802"/>
              </a:lnSpc>
            </a:pPr>
            <a:r>
              <a:rPr lang="en-US" sz="3401" dirty="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           Communicate  goal confirmation</a:t>
            </a:r>
          </a:p>
          <a:p>
            <a:pPr algn="l">
              <a:lnSpc>
                <a:spcPts val="6802"/>
              </a:lnSpc>
            </a:pPr>
            <a:r>
              <a:rPr lang="en-US" sz="3401" dirty="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           Display winner at the end of the match</a:t>
            </a:r>
          </a:p>
          <a:p>
            <a:pPr algn="l">
              <a:lnSpc>
                <a:spcPts val="6802"/>
              </a:lnSpc>
            </a:pPr>
            <a:r>
              <a:rPr lang="en-US" sz="3401" dirty="0">
                <a:solidFill>
                  <a:srgbClr val="222222"/>
                </a:solidFill>
                <a:latin typeface="DM Sans"/>
                <a:ea typeface="DM Sans"/>
                <a:cs typeface="DM Sans"/>
                <a:sym typeface="DM Sans"/>
              </a:rPr>
              <a:t>         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57398" y="885825"/>
            <a:ext cx="12078003" cy="108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458"/>
              </a:lnSpc>
              <a:spcBef>
                <a:spcPct val="0"/>
              </a:spcBef>
            </a:pPr>
            <a:r>
              <a:rPr lang="en-US" sz="7689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Components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80875" y="693653"/>
            <a:ext cx="7831454" cy="73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1"/>
              </a:lnSpc>
            </a:pPr>
            <a:r>
              <a:rPr lang="en-US" sz="5331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WORK DISTRIBUTION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28700" y="1771531"/>
          <a:ext cx="16230600" cy="7670918"/>
        </p:xfrm>
        <a:graphic>
          <a:graphicData uri="http://schemas.openxmlformats.org/drawingml/2006/table">
            <a:tbl>
              <a:tblPr/>
              <a:tblGrid>
                <a:gridCol w="6879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2775"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Team member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Assigned Task</a:t>
                      </a:r>
                      <a:r>
                        <a:rPr lang="en-US" sz="3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333"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245031B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1.Assemble chassis</a:t>
                      </a:r>
                      <a:endParaRPr lang="en-US" sz="1100"/>
                    </a:p>
                    <a:p>
                      <a:pPr algn="l">
                        <a:lnSpc>
                          <a:spcPts val="4339"/>
                        </a:lnSpc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2.Motor functions of car 1</a:t>
                      </a:r>
                    </a:p>
                    <a:p>
                      <a:pPr algn="l">
                        <a:lnSpc>
                          <a:spcPts val="4339"/>
                        </a:lnSpc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3.Integrate receiver</a:t>
                      </a:r>
                    </a:p>
                    <a:p>
                      <a:pPr algn="l">
                        <a:lnSpc>
                          <a:spcPts val="4339"/>
                        </a:lnSpc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4.Collaboration with controller 1 for integration</a:t>
                      </a:r>
                    </a:p>
                    <a:p>
                      <a:pPr algn="l">
                        <a:lnSpc>
                          <a:spcPts val="4339"/>
                        </a:lnSpc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5.Front end UI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7810"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245056F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1.Collaboration with car 1 for integration</a:t>
                      </a:r>
                      <a:endParaRPr lang="en-US" sz="1100"/>
                    </a:p>
                    <a:p>
                      <a:pPr algn="l">
                        <a:lnSpc>
                          <a:spcPts val="4339"/>
                        </a:lnSpc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2.Collaboration with goalkeeper</a:t>
                      </a:r>
                    </a:p>
                    <a:p>
                      <a:pPr algn="l">
                        <a:lnSpc>
                          <a:spcPts val="4339"/>
                        </a:lnSpc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3.Game logic and JS function</a:t>
                      </a:r>
                    </a:p>
                    <a:p>
                      <a:pPr algn="l">
                        <a:lnSpc>
                          <a:spcPts val="4339"/>
                        </a:lnSpc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4.Controller 1 development</a:t>
                      </a:r>
                    </a:p>
                    <a:p>
                      <a:pPr algn="l">
                        <a:lnSpc>
                          <a:spcPts val="4339"/>
                        </a:lnSpc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5..Web server and ESP32 WebSocket  development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28700" y="1028700"/>
          <a:ext cx="16230600" cy="8328164"/>
        </p:xfrm>
        <a:graphic>
          <a:graphicData uri="http://schemas.openxmlformats.org/drawingml/2006/table">
            <a:tbl>
              <a:tblPr/>
              <a:tblGrid>
                <a:gridCol w="6879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3801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Team member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Assigned Task</a:t>
                      </a: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8121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245060L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1.Assemble chassis</a:t>
                      </a:r>
                      <a:endParaRPr lang="en-US" sz="1100"/>
                    </a:p>
                    <a:p>
                      <a:pPr algn="l"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2.Motor functions of car 2</a:t>
                      </a:r>
                    </a:p>
                    <a:p>
                      <a:pPr algn="l"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3.Integrate receiver</a:t>
                      </a:r>
                    </a:p>
                    <a:p>
                      <a:pPr algn="l"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4.Collaboration with controller 2 for integration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8121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245057J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1.Collaboration with car 2 for integration</a:t>
                      </a:r>
                      <a:endParaRPr lang="en-US" sz="1100"/>
                    </a:p>
                    <a:p>
                      <a:pPr algn="l"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2.Collaboration with goalkeeper</a:t>
                      </a:r>
                    </a:p>
                    <a:p>
                      <a:pPr algn="l"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3.Web server and ESP32 WebSocket development</a:t>
                      </a:r>
                    </a:p>
                    <a:p>
                      <a:pPr algn="l"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4.Controller 2 development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8121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245124M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1.Build 2 rail and goalkeeper mechanism </a:t>
                      </a:r>
                      <a:endParaRPr lang="en-US" sz="1100"/>
                    </a:p>
                    <a:p>
                      <a:pPr algn="l"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2.Goal counting with break beam sensors</a:t>
                      </a:r>
                    </a:p>
                    <a:p>
                      <a:pPr algn="l"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3.Install limit switches, Speakers.</a:t>
                      </a:r>
                    </a:p>
                    <a:p>
                      <a:pPr algn="l"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4.Arena integration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00504" y="1366338"/>
            <a:ext cx="7086993" cy="1314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72"/>
              </a:lnSpc>
            </a:pPr>
            <a:r>
              <a:rPr lang="en-US" sz="9456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4350" y="3482915"/>
            <a:ext cx="17259300" cy="4610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11"/>
              </a:lnSpc>
              <a:spcBef>
                <a:spcPct val="0"/>
              </a:spcBef>
            </a:pPr>
            <a:r>
              <a:rPr lang="en-US" sz="3722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KickBots Arena is an innovative 2-player robotic football system that blends embedded control, robotics, wireless communication, and computer vision into an interactive game experience.</a:t>
            </a:r>
          </a:p>
          <a:p>
            <a:pPr algn="just">
              <a:lnSpc>
                <a:spcPts val="5211"/>
              </a:lnSpc>
              <a:spcBef>
                <a:spcPct val="0"/>
              </a:spcBef>
            </a:pPr>
            <a:r>
              <a:rPr lang="en-US" sz="3722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Each player controls a striker robot and its kicker for attacking (drives the ball toward the goal) and a goalkeeper robot for defense (moves along a rail to block goals)</a:t>
            </a:r>
          </a:p>
          <a:p>
            <a:pPr algn="just">
              <a:lnSpc>
                <a:spcPts val="5211"/>
              </a:lnSpc>
              <a:spcBef>
                <a:spcPct val="0"/>
              </a:spcBef>
            </a:pPr>
            <a:r>
              <a:rPr lang="en-US" sz="3722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 Web application acts as the main control and display system.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7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82017" y="2810474"/>
            <a:ext cx="11923966" cy="3716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87"/>
              </a:lnSpc>
            </a:pPr>
            <a:r>
              <a:rPr lang="en-US" sz="12023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379622" y="7493257"/>
            <a:ext cx="6983181" cy="669188"/>
            <a:chOff x="0" y="0"/>
            <a:chExt cx="1839192" cy="1762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39192" cy="176247"/>
            </a:xfrm>
            <a:custGeom>
              <a:avLst/>
              <a:gdLst/>
              <a:ahLst/>
              <a:cxnLst/>
              <a:rect l="l" t="t" r="r" b="b"/>
              <a:pathLst>
                <a:path w="1839192" h="176247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14071" y="7605732"/>
            <a:ext cx="4514284" cy="48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OHMIES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841</Words>
  <Application>Microsoft Office PowerPoint</Application>
  <PresentationFormat>Custom</PresentationFormat>
  <Paragraphs>131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 Bold</vt:lpstr>
      <vt:lpstr>Poppins Semi-Bold</vt:lpstr>
      <vt:lpstr>DM Sans Bold</vt:lpstr>
      <vt:lpstr>Georgia Pro</vt:lpstr>
      <vt:lpstr>Open Sans Bold</vt:lpstr>
      <vt:lpstr>Arimo</vt:lpstr>
      <vt:lpstr>Calibri</vt:lpstr>
      <vt:lpstr>Poppins</vt:lpstr>
      <vt:lpstr>Arial</vt:lpstr>
      <vt:lpstr>DM Sans</vt:lpstr>
      <vt:lpstr>Poppins Bold</vt:lpstr>
      <vt:lpstr>Open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ohmies</dc:title>
  <cp:lastModifiedBy>deemantha gunasekara</cp:lastModifiedBy>
  <cp:revision>2</cp:revision>
  <dcterms:created xsi:type="dcterms:W3CDTF">2006-08-16T00:00:00Z</dcterms:created>
  <dcterms:modified xsi:type="dcterms:W3CDTF">2025-11-18T03:42:59Z</dcterms:modified>
  <dc:identifier>DAG4L4OBeb0</dc:identifier>
</cp:coreProperties>
</file>